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Petrona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7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0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495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QUANTITATIVE MUTUAL FUND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720777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i="1" kern="0" spc="-63" dirty="0">
                <a:solidFill>
                  <a:srgbClr val="CADCFC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&amp; Dashboard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61475" y="3500437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Performance Metrics, Risk-Adjusted Returns, and Fund Operations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 Data Analyst / Quantitative Strategy Team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474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Problem &amp; Strategic Objectives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44936" y="2005608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Business Problem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Asset management teams and investors struggle to evaluate mutual funds across fragmented data sources, leading to delayed portfolio rebalancing and undetected style drift.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792982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876CD4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106539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kern="0" spc="-47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Objectives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62177"/>
            <a:ext cx="3496877" cy="2301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6410" y="390396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75881" y="4518124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Automated ETL Pipeline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75881" y="49415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scalable, automated pipeline to ingest daily NAVs, AUM, and expense ratio metrics.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762177"/>
            <a:ext cx="3496877" cy="23010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2294" y="390396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561766" y="4518124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Standardized Benchmarks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561766" y="49415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standardized quantitative benchmarks for risk-adjusted performance evaluation.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762177"/>
            <a:ext cx="3496877" cy="23010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68179" y="390396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8247650" y="4518124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8247650" y="49415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an interactive operational and executive dashboard for real-time fund screening.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5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Sources &amp; Schema Ingestion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53430"/>
            <a:ext cx="52614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2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592163"/>
            <a:ext cx="5261439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Factsheets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NAV Feeds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Indices (S&amp;P 500, Nifty 50)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 Ratio Logs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2617093"/>
            <a:ext cx="5261439" cy="1206798"/>
          </a:xfrm>
          <a:prstGeom prst="roundRect">
            <a:avLst>
              <a:gd name="adj" fmla="val 4934"/>
            </a:avLst>
          </a:prstGeom>
          <a:solidFill>
            <a:srgbClr val="2F1D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2768798"/>
            <a:ext cx="221451" cy="1772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6287" y="2758777"/>
            <a:ext cx="46149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2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66287" y="3097510"/>
            <a:ext cx="461494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Unifying factsheets, NAV history, benchmark indices, and expense logs into one schema removes the manual reconciliation that delays fund screening and rebalancing decisions.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75131" y="1253430"/>
            <a:ext cx="52614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2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Schema Architecture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75131" y="1605459"/>
            <a:ext cx="5261439" cy="1003300"/>
          </a:xfrm>
          <a:prstGeom prst="roundRect">
            <a:avLst>
              <a:gd name="adj" fmla="val 593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3162" y="1753493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b="1" kern="0" spc="-22" dirty="0">
                <a:solidFill>
                  <a:srgbClr val="CADC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 TABLE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23162" y="2007890"/>
            <a:ext cx="49653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0" spc="-2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Fact_Daily_NAV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23162" y="2301974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Fund_ID · Date · NAV · Daily_Return · AUM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75131" y="2715022"/>
            <a:ext cx="5261439" cy="1003300"/>
          </a:xfrm>
          <a:prstGeom prst="roundRect">
            <a:avLst>
              <a:gd name="adj" fmla="val 593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3162" y="2863056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b="1" kern="0" spc="-22" dirty="0">
                <a:solidFill>
                  <a:srgbClr val="1C729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23162" y="3117453"/>
            <a:ext cx="49653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0" spc="-22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Dim_Fund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3162" y="3411538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Fund_ID, Category, Style, Inception_Date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75131" y="3824585"/>
            <a:ext cx="5261439" cy="1003300"/>
          </a:xfrm>
          <a:prstGeom prst="roundRect">
            <a:avLst>
              <a:gd name="adj" fmla="val 593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23162" y="3972620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b="1" kern="0" spc="-22" dirty="0">
                <a:solidFill>
                  <a:srgbClr val="1C729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23162" y="4227016"/>
            <a:ext cx="49653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0" spc="-22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Dim_Benchmark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23162" y="4521101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Benchmark_ID, Index_Value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75131" y="4934148"/>
            <a:ext cx="5261439" cy="1003300"/>
          </a:xfrm>
          <a:prstGeom prst="roundRect">
            <a:avLst>
              <a:gd name="adj" fmla="val 593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23162" y="5082183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b="1" kern="0" spc="-22" dirty="0">
                <a:solidFill>
                  <a:srgbClr val="1C729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23162" y="5336580"/>
            <a:ext cx="49653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0" spc="-22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Dim_Metrics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23162" y="5630664"/>
            <a:ext cx="496537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Fund_ID, Expense_Ratio, Turnover_Rate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61475" y="6176566"/>
            <a:ext cx="1147833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596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&amp; System Architecture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547812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68183" y="165407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482" y="2303859"/>
            <a:ext cx="311886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STAGE 1</a:t>
            </a:r>
            <a:endParaRPr lang="en-US" sz="1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INGESTION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50482" y="3037384"/>
            <a:ext cx="3118863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Data Pull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Python-based scrapers and API connectors pull raw daily NAV data into an S3 / Cloud Storage staging layer.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1547812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54067" y="165407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36366" y="2303859"/>
            <a:ext cx="311886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STAGE 2</a:t>
            </a:r>
            <a:endParaRPr lang="en-US" sz="1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36366" y="3037384"/>
            <a:ext cx="3118863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Orchestration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Airflow / dbt orchestration standardizes date formats, handles missing values, and calculates rolling returns.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1547812"/>
            <a:ext cx="3496877" cy="567035"/>
          </a:xfrm>
          <a:prstGeom prst="roundRect">
            <a:avLst>
              <a:gd name="adj" fmla="val 4999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39952" y="165407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2251" y="2303859"/>
            <a:ext cx="311886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STAGE 3</a:t>
            </a:r>
            <a:endParaRPr lang="en-US" sz="19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STORAGE &amp; SERVING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222251" y="3037384"/>
            <a:ext cx="3118863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Warehouse to Dashboard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warehouse (Snowflake / BigQuery) feeds modeled data directly into the analytical dashboard layer.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064522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Flow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feeds land in staging, Airflow/dbt cleans and computes returns, and the warehouse serves modeled data straight to the dashboard — no manual handoffs.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8073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7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Highlights: Distribution &amp; AUM Trends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9042" y="1565870"/>
            <a:ext cx="3779148" cy="4134941"/>
          </a:xfrm>
          <a:prstGeom prst="roundRect">
            <a:avLst>
              <a:gd name="adj" fmla="val 3241"/>
            </a:avLst>
          </a:prstGeom>
          <a:solidFill>
            <a:srgbClr val="1E2761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9099" y="1718965"/>
            <a:ext cx="3439034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CADCFC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AUM CONCENTRATION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09099" y="2151063"/>
            <a:ext cx="3439034" cy="1116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0" b="1" kern="0" spc="-14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60%+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09099" y="3420566"/>
            <a:ext cx="343903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industry AUM is controlled by just the top 10% of funds, showing high market capitalization skewness.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029" y="1738114"/>
            <a:ext cx="6919442" cy="18186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656" y="1891209"/>
            <a:ext cx="204088" cy="2040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6135" y="2418457"/>
            <a:ext cx="654122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Flow Trends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806135" y="2850555"/>
            <a:ext cx="654122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Large-cap equity funds maintain stable inflows, while sector-specific funds exhibit high volatility tied to macroeconomic cycles.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029" y="3709888"/>
            <a:ext cx="6919442" cy="181868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656" y="3862983"/>
            <a:ext cx="204088" cy="2040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06135" y="4390231"/>
            <a:ext cx="654122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Outlier Analysis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4806135" y="4822329"/>
            <a:ext cx="654122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small-cap outliers with extreme localized AUM expansion during bullish momentum phases.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5873055"/>
            <a:ext cx="11478330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kern="0" spc="-27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8873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66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Highlights: Expense Ratios vs. Returns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714401"/>
            <a:ext cx="5238421" cy="1215033"/>
          </a:xfrm>
          <a:prstGeom prst="roundRect">
            <a:avLst>
              <a:gd name="adj" fmla="val 5554"/>
            </a:avLst>
          </a:prstGeom>
          <a:solidFill>
            <a:srgbClr val="2F1D6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1905794"/>
            <a:ext cx="251017" cy="200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3754" y="1891010"/>
            <a:ext cx="45055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Inverse Correlation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33754" y="2291060"/>
            <a:ext cx="450551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index funds show an inverse relationship between expense ratios and net long-term returns due to fee drag.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3083024"/>
            <a:ext cx="5238421" cy="1452761"/>
          </a:xfrm>
          <a:prstGeom prst="roundRect">
            <a:avLst>
              <a:gd name="adj" fmla="val 4645"/>
            </a:avLst>
          </a:prstGeom>
          <a:solidFill>
            <a:srgbClr val="2F1D6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3274417"/>
            <a:ext cx="251017" cy="2008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3754" y="3259634"/>
            <a:ext cx="45055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Active Alpha Threshold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233754" y="3659684"/>
            <a:ext cx="450551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High-expense active funds (&gt;1.5%) fail to consistently generate excess returns over a 5-year rolling horizon compared to low-cost peers.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98149" y="1697335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Efficiency Matrix</a:t>
            </a:r>
            <a:endParaRPr lang="en-US" sz="16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2114451"/>
            <a:ext cx="2550949" cy="1460103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136" y="2259013"/>
            <a:ext cx="192777" cy="1927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77830" y="2757091"/>
            <a:ext cx="21915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Fee / Low Alpha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477830" y="3157141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Divestment targets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5621" y="2114451"/>
            <a:ext cx="2550949" cy="146010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4607" y="2259013"/>
            <a:ext cx="192777" cy="19278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165301" y="2757091"/>
            <a:ext cx="21915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Fee / Low Alpha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9165301" y="3157141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closely</a:t>
            </a:r>
            <a:endParaRPr lang="en-US" sz="12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3711079"/>
            <a:ext cx="2550949" cy="1460103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7136" y="3855641"/>
            <a:ext cx="192777" cy="19278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77830" y="4353719"/>
            <a:ext cx="21915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Fee / High Alpha</a:t>
            </a:r>
            <a:endParaRPr lang="en-US" sz="1650" dirty="0"/>
          </a:p>
        </p:txBody>
      </p:sp>
      <p:sp>
        <p:nvSpPr>
          <p:cNvPr id="23" name="Text 13"/>
          <p:cNvSpPr/>
          <p:nvPr/>
        </p:nvSpPr>
        <p:spPr>
          <a:xfrm>
            <a:off x="6477830" y="4753769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Justify or reprice</a:t>
            </a:r>
            <a:endParaRPr lang="en-US" sz="12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5621" y="3711079"/>
            <a:ext cx="2550949" cy="1460103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4607" y="3855641"/>
            <a:ext cx="192777" cy="19278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165301" y="4353719"/>
            <a:ext cx="21915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Fee / High Alpha</a:t>
            </a:r>
            <a:endParaRPr lang="en-US" sz="1650" dirty="0"/>
          </a:p>
        </p:txBody>
      </p:sp>
      <p:sp>
        <p:nvSpPr>
          <p:cNvPr id="27" name="Text 15"/>
          <p:cNvSpPr/>
          <p:nvPr/>
        </p:nvSpPr>
        <p:spPr>
          <a:xfrm>
            <a:off x="9165301" y="4753769"/>
            <a:ext cx="219158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holdings</a:t>
            </a:r>
            <a:endParaRPr lang="en-US" sz="1250" dirty="0"/>
          </a:p>
        </p:txBody>
      </p:sp>
      <p:sp>
        <p:nvSpPr>
          <p:cNvPr id="28" name="Text 16"/>
          <p:cNvSpPr/>
          <p:nvPr/>
        </p:nvSpPr>
        <p:spPr>
          <a:xfrm>
            <a:off x="5688565" y="5324773"/>
            <a:ext cx="584800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 →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661475" y="5838924"/>
            <a:ext cx="11478330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0431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7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Metrics: Risk-Adjusted Returns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7482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i="1" kern="0" spc="-2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 Ratio &amp; Sortino Ratio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77877"/>
            <a:ext cx="5226911" cy="1779588"/>
          </a:xfrm>
          <a:prstGeom prst="roundRect">
            <a:avLst>
              <a:gd name="adj" fmla="val 4015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581" y="2566988"/>
            <a:ext cx="4848699" cy="33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kern="0" spc="-4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0581" y="2963168"/>
            <a:ext cx="4848699" cy="33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4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Sharpe Ratio Analysis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0581" y="3451225"/>
            <a:ext cx="484869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total risk efficiency; reveals top-quartile funds generating excess return per unit of total standard deviation.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659" y="2377877"/>
            <a:ext cx="5226911" cy="1779588"/>
          </a:xfrm>
          <a:prstGeom prst="roundRect">
            <a:avLst>
              <a:gd name="adj" fmla="val 4015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8765" y="2566988"/>
            <a:ext cx="4848699" cy="33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kern="0" spc="-4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8765" y="2963168"/>
            <a:ext cx="4848699" cy="33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4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Sortino Ratio Focus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98765" y="3451225"/>
            <a:ext cx="484869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out upside volatility to isolate downside risk; highlights funds protecting capital during market drawdowns.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501952"/>
            <a:ext cx="10868745" cy="1066403"/>
          </a:xfrm>
          <a:prstGeom prst="roundRect">
            <a:avLst>
              <a:gd name="adj" fmla="val 6700"/>
            </a:avLst>
          </a:prstGeom>
          <a:solidFill>
            <a:srgbClr val="2F1D6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714577"/>
            <a:ext cx="265800" cy="2126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67389" y="4697512"/>
            <a:ext cx="1009277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35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267389" y="5129609"/>
            <a:ext cx="10702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Mid-cap growth funds showed strong Sharpe ratios but severe Sortino degradation during high-rate regimes.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740598"/>
            <a:ext cx="11478330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kern="0" spc="-27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7806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Metrics: Alpha &amp; Beta Drift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496046"/>
            <a:ext cx="3496877" cy="2409527"/>
          </a:xfrm>
          <a:prstGeom prst="roundRect">
            <a:avLst>
              <a:gd name="adj" fmla="val 3295"/>
            </a:avLst>
          </a:prstGeom>
          <a:solidFill>
            <a:srgbClr val="B02A2A"/>
          </a:solidFill>
          <a:ln w="6350">
            <a:solidFill>
              <a:srgbClr val="C943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9140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&lt;25%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307707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Alpha Generation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56832" y="350053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actively managed equity funds generated statistically significant Jensen's Alpha over 3-year periods.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496046"/>
            <a:ext cx="3496877" cy="2409527"/>
          </a:xfrm>
          <a:prstGeom prst="roundRect">
            <a:avLst>
              <a:gd name="adj" fmla="val 3295"/>
            </a:avLst>
          </a:prstGeom>
          <a:solidFill>
            <a:srgbClr val="D4A74F"/>
          </a:solidFill>
          <a:ln w="6350">
            <a:solidFill>
              <a:srgbClr val="BA8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269140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&gt;1.25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42716" y="307707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Beta Drift Tracking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42716" y="350053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growth funds exhibited beta expansion during rallies, indicating unannounced style drift.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496046"/>
            <a:ext cx="3496877" cy="2409527"/>
          </a:xfrm>
          <a:prstGeom prst="roundRect">
            <a:avLst>
              <a:gd name="adj" fmla="val 3295"/>
            </a:avLst>
          </a:prstGeom>
          <a:solidFill>
            <a:srgbClr val="2A7B8F"/>
          </a:solidFill>
          <a:ln w="6350">
            <a:solidFill>
              <a:srgbClr val="439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600" y="269140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228600" y="3077071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Tracking Error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228600" y="350053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tracking variance for index strategies to flag inefficient tracking algorithms.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118199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720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CADCFC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Dashboard: Overview &amp; Category Views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57809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 VIEW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11523"/>
            <a:ext cx="5373851" cy="853380"/>
          </a:xfrm>
          <a:prstGeom prst="roundRect">
            <a:avLst>
              <a:gd name="adj" fmla="val 744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030" y="1869083"/>
            <a:ext cx="505874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1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₹4.2T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19030" y="2189659"/>
            <a:ext cx="50587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AUM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56270" y="1711523"/>
            <a:ext cx="5373950" cy="853380"/>
          </a:xfrm>
          <a:prstGeom prst="roundRect">
            <a:avLst>
              <a:gd name="adj" fmla="val 744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3826" y="1869083"/>
            <a:ext cx="50588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1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0.86%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13826" y="2189659"/>
            <a:ext cx="50588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Expense Ratio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2685852"/>
            <a:ext cx="5373851" cy="853380"/>
          </a:xfrm>
          <a:prstGeom prst="roundRect">
            <a:avLst>
              <a:gd name="adj" fmla="val 744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30" y="2843411"/>
            <a:ext cx="505874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1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11.4%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9030" y="3163987"/>
            <a:ext cx="50587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Wtd. Avg Return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56270" y="2685852"/>
            <a:ext cx="5373950" cy="853380"/>
          </a:xfrm>
          <a:prstGeom prst="roundRect">
            <a:avLst>
              <a:gd name="adj" fmla="val 744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3826" y="2843411"/>
            <a:ext cx="50588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1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▲ ▼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13826" y="3163987"/>
            <a:ext cx="505883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Gainers/Losers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1475" y="3675261"/>
            <a:ext cx="10868745" cy="57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i="1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Breakdown Filter · Interactive slicers across Equity, Debt, and Hybrid with custom date ranges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Matrix — Rolling Returns by Category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2879" y="4461570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30016" y="4461570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1-Yr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47152" y="4461570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3-Yr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4289" y="4461570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5-Yr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2879" y="4837013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78810" y="4758134"/>
            <a:ext cx="2717137" cy="375444"/>
          </a:xfrm>
          <a:prstGeom prst="rect">
            <a:avLst/>
          </a:prstGeom>
          <a:solidFill>
            <a:srgbClr val="2F8F4E"/>
          </a:solidFill>
          <a:ln/>
        </p:spPr>
      </p:sp>
      <p:sp>
        <p:nvSpPr>
          <p:cNvPr id="23" name="Text 21"/>
          <p:cNvSpPr/>
          <p:nvPr/>
        </p:nvSpPr>
        <p:spPr>
          <a:xfrm>
            <a:off x="3530016" y="4837013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95947" y="4758134"/>
            <a:ext cx="2717137" cy="3754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247152" y="4837013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13083" y="4758134"/>
            <a:ext cx="2717137" cy="37544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7" name="Text 25"/>
          <p:cNvSpPr/>
          <p:nvPr/>
        </p:nvSpPr>
        <p:spPr>
          <a:xfrm>
            <a:off x="8964289" y="4837013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2879" y="5212457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78810" y="5133578"/>
            <a:ext cx="2717137" cy="3754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3530016" y="5212457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95947" y="5133578"/>
            <a:ext cx="2717137" cy="375444"/>
          </a:xfrm>
          <a:prstGeom prst="rect">
            <a:avLst/>
          </a:prstGeom>
          <a:solidFill>
            <a:srgbClr val="2F8F4E"/>
          </a:solidFill>
          <a:ln/>
        </p:spPr>
      </p:sp>
      <p:sp>
        <p:nvSpPr>
          <p:cNvPr id="32" name="Text 30"/>
          <p:cNvSpPr/>
          <p:nvPr/>
        </p:nvSpPr>
        <p:spPr>
          <a:xfrm>
            <a:off x="6247152" y="5212457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813083" y="5133578"/>
            <a:ext cx="2717137" cy="375444"/>
          </a:xfrm>
          <a:prstGeom prst="rect">
            <a:avLst/>
          </a:prstGeom>
          <a:solidFill>
            <a:srgbClr val="2F8F4E"/>
          </a:solidFill>
          <a:ln/>
        </p:spPr>
      </p:sp>
      <p:sp>
        <p:nvSpPr>
          <p:cNvPr id="34" name="Text 32"/>
          <p:cNvSpPr/>
          <p:nvPr/>
        </p:nvSpPr>
        <p:spPr>
          <a:xfrm>
            <a:off x="8964289" y="5212457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2879" y="5587901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78810" y="5509022"/>
            <a:ext cx="2717137" cy="37544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7" name="Text 35"/>
          <p:cNvSpPr/>
          <p:nvPr/>
        </p:nvSpPr>
        <p:spPr>
          <a:xfrm>
            <a:off x="3530016" y="5587901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5947" y="5509022"/>
            <a:ext cx="2717137" cy="3754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6247152" y="5587901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813083" y="5509022"/>
            <a:ext cx="2717137" cy="375444"/>
          </a:xfrm>
          <a:custGeom>
            <a:avLst/>
            <a:gdLst/>
            <a:ahLst/>
            <a:cxnLst/>
            <a:rect l="l" t="t" r="r" b="b"/>
            <a:pathLst>
              <a:path w="2717137" h="375444">
                <a:moveTo>
                  <a:pt x="0" y="0"/>
                </a:moveTo>
                <a:lnTo>
                  <a:pt x="2717137" y="0"/>
                </a:lnTo>
                <a:lnTo>
                  <a:pt x="2717137" y="322517"/>
                </a:lnTo>
                <a:arcTo wR="52925" hR="52926" stAng="0" swAng="5400000"/>
                <a:lnTo>
                  <a:pt x="0" y="375444"/>
                </a:lnTo>
                <a:lnTo>
                  <a:pt x="0" y="0"/>
                </a:lnTo>
                <a:close/>
              </a:path>
            </a:pathLst>
          </a:custGeom>
          <a:solidFill>
            <a:srgbClr val="B23A3A"/>
          </a:solidFill>
          <a:ln/>
        </p:spPr>
      </p:sp>
      <p:sp>
        <p:nvSpPr>
          <p:cNvPr id="41" name="Text 39"/>
          <p:cNvSpPr/>
          <p:nvPr/>
        </p:nvSpPr>
        <p:spPr>
          <a:xfrm>
            <a:off x="8964289" y="5587901"/>
            <a:ext cx="30243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61475" y="602049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2881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Dashboard: Fund Deep-Dive &amp; Risk Analysis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37098"/>
            <a:ext cx="3496877" cy="260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6410" y="2507159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093045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Individual Fund View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875881" y="3516511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drill-down into historical NAV curves benchmarked against target market indices.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337098"/>
            <a:ext cx="3496877" cy="26035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294" y="2507159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093045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Analytics Suite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4561766" y="3516511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scatter plots mapping Risk vs. Return (Sharpe vs. Standard Deviation) and drawdown visualizers.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337098"/>
            <a:ext cx="3496877" cy="260350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8179" y="2507159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093045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Scenario Testing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8247650" y="3516511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inputs allowing portfolio managers to simulate fee adjustment impacts on historical net returns.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661475" y="5153223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30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 &amp; Recommendations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31330"/>
            <a:ext cx="3496877" cy="29390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183" y="235981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012777"/>
            <a:ext cx="3068065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Consolidate High-Fee Drag Funds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75881" y="374630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Reallocate capital from high-expense, low-alpha active strategies into broad-market passive indices.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31330"/>
            <a:ext cx="3496877" cy="29390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4067" y="235981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61766" y="3012777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Enforce Beta Constraints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61766" y="343624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automated drift alerts when fund betas exceed mandate thresholds by more than 15%.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31330"/>
            <a:ext cx="3496877" cy="29390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39952" y="235981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45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247650" y="3012777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 Rebalancing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47650" y="343624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dashboard alerting logic directly into quarterly portfolio optimization workflows.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1475" y="5383014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– Mutual Fund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815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843980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i="1" kern="0" spc="-47" dirty="0">
                <a:solidFill>
                  <a:srgbClr val="C9A24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 &amp; Open Discussion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61475" y="254684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32100"/>
            <a:ext cx="10868745" cy="287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C9A2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Analytics &amp; Portfolio Strategy Team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C9A2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ACCESS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Analytics Portal Link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C9A2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FLOOR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Questions, Feedback, and Future Model Roadmap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885</Words>
  <Application>Microsoft Office PowerPoint</Application>
  <PresentationFormat>Widescreen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 Bold</vt:lpstr>
      <vt:lpstr>Inter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CHINNI CHINNI</dc:creator>
  <cp:lastModifiedBy>CHINNI CHINNI</cp:lastModifiedBy>
  <cp:revision>2</cp:revision>
  <dcterms:created xsi:type="dcterms:W3CDTF">2026-08-18T10:26:36Z</dcterms:created>
  <dcterms:modified xsi:type="dcterms:W3CDTF">2026-08-18T10:31:39Z</dcterms:modified>
</cp:coreProperties>
</file>